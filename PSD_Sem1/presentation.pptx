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sldIdLst>
    <p:sldId id="271" r:id="rId5"/>
    <p:sldId id="314" r:id="rId6"/>
    <p:sldId id="332" r:id="rId7"/>
    <p:sldId id="336" r:id="rId8"/>
    <p:sldId id="337" r:id="rId9"/>
    <p:sldId id="338" r:id="rId10"/>
    <p:sldId id="335" r:id="rId11"/>
    <p:sldId id="340" r:id="rId12"/>
    <p:sldId id="341" r:id="rId13"/>
    <p:sldId id="342" r:id="rId14"/>
    <p:sldId id="343" r:id="rId15"/>
    <p:sldId id="356" r:id="rId16"/>
    <p:sldId id="345" r:id="rId17"/>
    <p:sldId id="347" r:id="rId18"/>
    <p:sldId id="352" r:id="rId19"/>
    <p:sldId id="351" r:id="rId20"/>
    <p:sldId id="349" r:id="rId21"/>
    <p:sldId id="353" r:id="rId22"/>
    <p:sldId id="350" r:id="rId23"/>
    <p:sldId id="354" r:id="rId24"/>
    <p:sldId id="358" r:id="rId25"/>
    <p:sldId id="355" r:id="rId26"/>
    <p:sldId id="357" r:id="rId27"/>
    <p:sldId id="292" r:id="rId28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65F33ED-93E9-4A26-A332-0729DF26802B}">
          <p14:sldIdLst>
            <p14:sldId id="271"/>
          </p14:sldIdLst>
        </p14:section>
        <p14:section name="Раздел без заголовка" id="{C2983B72-E04A-42BB-87EF-4167FEDB2BCF}">
          <p14:sldIdLst>
            <p14:sldId id="314"/>
            <p14:sldId id="332"/>
            <p14:sldId id="336"/>
            <p14:sldId id="337"/>
            <p14:sldId id="338"/>
            <p14:sldId id="335"/>
            <p14:sldId id="340"/>
            <p14:sldId id="341"/>
            <p14:sldId id="342"/>
            <p14:sldId id="343"/>
            <p14:sldId id="356"/>
            <p14:sldId id="345"/>
            <p14:sldId id="347"/>
            <p14:sldId id="352"/>
            <p14:sldId id="351"/>
            <p14:sldId id="349"/>
            <p14:sldId id="353"/>
            <p14:sldId id="350"/>
            <p14:sldId id="354"/>
            <p14:sldId id="358"/>
            <p14:sldId id="355"/>
            <p14:sldId id="357"/>
            <p14:sldId id="292"/>
          </p14:sldIdLst>
        </p14:section>
      </p14:sectionLst>
    </p:ex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196"/>
    <a:srgbClr val="0F2C68"/>
    <a:srgbClr val="029C63"/>
    <a:srgbClr val="96628C"/>
    <a:srgbClr val="11A0D7"/>
    <a:srgbClr val="E61F3D"/>
    <a:srgbClr val="CD5A5A"/>
    <a:srgbClr val="FFD746"/>
    <a:srgbClr val="0E2D69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43"/>
    <p:restoredTop sz="94722"/>
  </p:normalViewPr>
  <p:slideViewPr>
    <p:cSldViewPr snapToGrid="0" snapToObjects="1">
      <p:cViewPr varScale="1">
        <p:scale>
          <a:sx n="150" d="100"/>
          <a:sy n="150" d="100"/>
        </p:scale>
        <p:origin x="1002" y="108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x-none" smtClean="0"/>
              <a:pPr/>
              <a:t>10.09.2026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pPr/>
              <a:t>12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94831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x-none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x-none" smtClean="0"/>
              <a:pPr/>
              <a:t>10.09.2026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4" Type="http://schemas.openxmlformats.org/officeDocument/2006/relationships/hyperlink" Target="mailto:vvasilevskiy@edu.hse.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951884"/>
            <a:ext cx="7634059" cy="1978323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Docker: </a:t>
            </a:r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от азов до нюансов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ru-RU" dirty="0"/>
              <a:t>Факультет компьютерных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9420" y="1175407"/>
            <a:ext cx="2278063" cy="463186"/>
          </a:xfrm>
        </p:spPr>
        <p:txBody>
          <a:bodyPr anchor="ctr">
            <a:normAutofit/>
          </a:bodyPr>
          <a:lstStyle/>
          <a:p>
            <a:r>
              <a:rPr lang="ru-RU" dirty="0"/>
              <a:t>Промышленное развертывание серверных приложений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 anchor="ctr"/>
          <a:lstStyle/>
          <a:p>
            <a:r>
              <a:rPr lang="ru-RU" dirty="0"/>
              <a:t>Москва </a:t>
            </a:r>
          </a:p>
          <a:p>
            <a:r>
              <a:rPr lang="ru-RU" dirty="0"/>
              <a:t>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43800" y="4128085"/>
            <a:ext cx="3702050" cy="2398807"/>
          </a:xfrm>
        </p:spPr>
        <p:txBody>
          <a:bodyPr>
            <a:noAutofit/>
          </a:bodyPr>
          <a:lstStyle/>
          <a:p>
            <a:pPr algn="r"/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Семинарист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Василевский Владимир Игоревич, </a:t>
            </a:r>
          </a:p>
          <a:p>
            <a:pPr algn="r"/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стажер-исследователь Лаборатории </a:t>
            </a:r>
          </a:p>
          <a:p>
            <a:pPr algn="r"/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Облачных и Мобильных Технологий</a:t>
            </a:r>
          </a:p>
          <a:p>
            <a:pPr algn="r"/>
            <a:endParaRPr lang="ru-RU" sz="1400" dirty="0">
              <a:latin typeface="HSE Sans" panose="020000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188857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Стажер-исследователь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НУЛ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ОиМТ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Куратор трека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Бекенд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ЛШ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ОиМТ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Разработчик ИИ-решений для университета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Выпускник Программной Инженерии ВШЭ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Создатель пет-проектов с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5М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+ пользователями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О семинаристе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О семинаристе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DAA1D43-BB33-4DED-8FCE-2B581AC89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709" y="1122882"/>
            <a:ext cx="3786565" cy="536681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458235E-7614-4AB2-931F-53D7B5E42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17" y="4540250"/>
            <a:ext cx="1875019" cy="205309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71211DC-56C0-4886-B653-99310204C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1277" y="4566458"/>
            <a:ext cx="1776423" cy="1772974"/>
          </a:xfrm>
          <a:prstGeom prst="rect">
            <a:avLst/>
          </a:prstGeom>
        </p:spPr>
      </p:pic>
      <p:sp>
        <p:nvSpPr>
          <p:cNvPr id="22" name="Заголовок 2">
            <a:extLst>
              <a:ext uri="{FF2B5EF4-FFF2-40B4-BE49-F238E27FC236}">
                <a16:creationId xmlns:a16="http://schemas.microsoft.com/office/drawing/2014/main" id="{B71B1D25-6DE5-49EB-B089-7450383FF96C}"/>
              </a:ext>
            </a:extLst>
          </p:cNvPr>
          <p:cNvSpPr txBox="1">
            <a:spLocks/>
          </p:cNvSpPr>
          <p:nvPr/>
        </p:nvSpPr>
        <p:spPr>
          <a:xfrm>
            <a:off x="3558121" y="6271921"/>
            <a:ext cx="1865203" cy="35627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sz="2200" dirty="0">
                <a:solidFill>
                  <a:schemeClr val="accent5">
                    <a:lumMod val="75000"/>
                  </a:schemeClr>
                </a:solidFill>
              </a:rPr>
              <a:t>Группа в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</a:rPr>
              <a:t>TG</a:t>
            </a:r>
            <a:endParaRPr lang="ru-RU" sz="2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051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453305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Отсутствие привязки к языку программирования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Подача материалов для понимания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Домашние задания – для закрепления материала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Искусственный интеллект – для изучения, не для выполнения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Возможно пилотное тестирование новых технологий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Предложения и пожелания приветствуются!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О семинарах</a:t>
            </a:r>
            <a:br>
              <a:rPr lang="ru-RU" dirty="0"/>
            </a:br>
            <a:endParaRPr lang="ru-RU" dirty="0"/>
          </a:p>
        </p:txBody>
      </p:sp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60D91512-18C8-45E6-A0C9-0E4FAA12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564986"/>
            <a:ext cx="11057955" cy="766908"/>
          </a:xfrm>
        </p:spPr>
        <p:txBody>
          <a:bodyPr>
            <a:normAutofit/>
          </a:bodyPr>
          <a:lstStyle/>
          <a:p>
            <a:r>
              <a:rPr lang="ru-RU" dirty="0"/>
              <a:t>О семинарах</a:t>
            </a:r>
            <a:br>
              <a:rPr lang="ru-RU" dirty="0"/>
            </a:br>
            <a:endParaRPr lang="ru-RU" sz="1500" dirty="0"/>
          </a:p>
        </p:txBody>
      </p:sp>
      <p:pic>
        <p:nvPicPr>
          <p:cNvPr id="12" name="Picture 2" descr="Picture background">
            <a:extLst>
              <a:ext uri="{FF2B5EF4-FFF2-40B4-BE49-F238E27FC236}">
                <a16:creationId xmlns:a16="http://schemas.microsoft.com/office/drawing/2014/main" id="{3E4A53E4-75EB-4ABF-9F53-876930C9B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4942" y="1962763"/>
            <a:ext cx="3330251" cy="333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1592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Что такое </a:t>
            </a:r>
            <a:r>
              <a:rPr lang="en-US" sz="1000" dirty="0"/>
              <a:t>Docker - </a:t>
            </a:r>
            <a:r>
              <a:rPr lang="ru-RU" sz="1000" dirty="0"/>
              <a:t>аналогия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14D2B59C-DCA7-499C-8716-8645F852EBA2}"/>
              </a:ext>
            </a:extLst>
          </p:cNvPr>
          <p:cNvSpPr txBox="1">
            <a:spLocks/>
          </p:cNvSpPr>
          <p:nvPr/>
        </p:nvSpPr>
        <p:spPr>
          <a:xfrm>
            <a:off x="8666683" y="5965641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И оно не подключится…</a:t>
            </a:r>
          </a:p>
        </p:txBody>
      </p:sp>
      <p:pic>
        <p:nvPicPr>
          <p:cNvPr id="1028" name="Picture 4" descr="Монитор 23.8&quot; Mastero Base S2422HMHP черный БЕЗ ПОДСТАВКИ, 1198907 купить в  Новосибирске в интернет-магазине e2e4">
            <a:extLst>
              <a:ext uri="{FF2B5EF4-FFF2-40B4-BE49-F238E27FC236}">
                <a16:creationId xmlns:a16="http://schemas.microsoft.com/office/drawing/2014/main" id="{F929544C-6B8D-4959-8904-2C283707A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51" y="2237463"/>
            <a:ext cx="2881333" cy="288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Что такое </a:t>
            </a:r>
            <a:r>
              <a:rPr lang="en-US" sz="2200" dirty="0"/>
              <a:t>Docker - </a:t>
            </a:r>
            <a:r>
              <a:rPr lang="ru-RU" sz="2200" dirty="0"/>
              <a:t>аналогия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8DCC97D8-311A-4BD5-AA35-9F7933A8CD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8047" y="4971121"/>
            <a:ext cx="1813942" cy="331192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Ваше приложение</a:t>
            </a:r>
          </a:p>
        </p:txBody>
      </p:sp>
      <p:sp>
        <p:nvSpPr>
          <p:cNvPr id="24" name="Текст 3">
            <a:extLst>
              <a:ext uri="{FF2B5EF4-FFF2-40B4-BE49-F238E27FC236}">
                <a16:creationId xmlns:a16="http://schemas.microsoft.com/office/drawing/2014/main" id="{85458D1A-3544-4BE7-8FB3-5BBF0BD97D07}"/>
              </a:ext>
            </a:extLst>
          </p:cNvPr>
          <p:cNvSpPr txBox="1">
            <a:spLocks/>
          </p:cNvSpPr>
          <p:nvPr/>
        </p:nvSpPr>
        <p:spPr>
          <a:xfrm>
            <a:off x="5008306" y="4975768"/>
            <a:ext cx="1813942" cy="331192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Что еще нужно</a:t>
            </a:r>
          </a:p>
        </p:txBody>
      </p:sp>
      <p:pic>
        <p:nvPicPr>
          <p:cNvPr id="1030" name="Picture 6" descr="Msi подставка для монитора MKS14A, 21.45-24&quot;, 1 дисплей, VESA 100x100/75x75  мм, до 2.7 кг | INSERV.EE">
            <a:extLst>
              <a:ext uri="{FF2B5EF4-FFF2-40B4-BE49-F238E27FC236}">
                <a16:creationId xmlns:a16="http://schemas.microsoft.com/office/drawing/2014/main" id="{3478225C-23D5-4C80-B28F-E678006EC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050" y="3319927"/>
            <a:ext cx="1401506" cy="140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Кабель питания DKC, Sсhuko - IEC320 C13, 1,0м, 3х1,5мм Schuko C13 от  российского производителя ДКС|DKC">
            <a:extLst>
              <a:ext uri="{FF2B5EF4-FFF2-40B4-BE49-F238E27FC236}">
                <a16:creationId xmlns:a16="http://schemas.microsoft.com/office/drawing/2014/main" id="{FF3596BD-CFCF-499D-BABF-37CDE8F79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13" y="1644543"/>
            <a:ext cx="1551040" cy="1551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utoShape 10" descr="Acer Nitro EI342CKRPbmiippx — как правильно подключить монитор к  компьютеру: пошаговая инструкция [20/32]">
            <a:extLst>
              <a:ext uri="{FF2B5EF4-FFF2-40B4-BE49-F238E27FC236}">
                <a16:creationId xmlns:a16="http://schemas.microsoft.com/office/drawing/2014/main" id="{2F0D3AAC-3CCE-4F54-BAB8-5CC124B328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041400" cy="104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8" name="Picture 14" descr="Как подключить и настроить ЖК монитор LG">
            <a:extLst>
              <a:ext uri="{FF2B5EF4-FFF2-40B4-BE49-F238E27FC236}">
                <a16:creationId xmlns:a16="http://schemas.microsoft.com/office/drawing/2014/main" id="{91CA9790-7420-48A1-9138-E59EF5B09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8750" y="3411854"/>
            <a:ext cx="1231099" cy="1420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Текст 3">
            <a:extLst>
              <a:ext uri="{FF2B5EF4-FFF2-40B4-BE49-F238E27FC236}">
                <a16:creationId xmlns:a16="http://schemas.microsoft.com/office/drawing/2014/main" id="{FA0F6CEE-408F-40E3-8421-8B74AF8232C5}"/>
              </a:ext>
            </a:extLst>
          </p:cNvPr>
          <p:cNvSpPr txBox="1">
            <a:spLocks/>
          </p:cNvSpPr>
          <p:nvPr/>
        </p:nvSpPr>
        <p:spPr>
          <a:xfrm>
            <a:off x="8704006" y="4997607"/>
            <a:ext cx="2325944" cy="331192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 кто-то купит…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AutoShape 16" descr="Сетевой шнур провод 2 pin, C1, витой кабель для электробритв Агидель,  Бердск, питание 220В купить по цене 300 ₽ в интернет-магазине Магнит Маркет  (арт. 5982242)">
            <a:extLst>
              <a:ext uri="{FF2B5EF4-FFF2-40B4-BE49-F238E27FC236}">
                <a16:creationId xmlns:a16="http://schemas.microsoft.com/office/drawing/2014/main" id="{34063EBC-D826-4FDA-AF7F-372CF16B38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" name="AutoShape 18" descr="Сетевой шнур провод 2 pin, C1, витой кабель для электробритв Агидель,  Бердск, питание 220В купить по цене 300 ₽ в интернет-магазине Магнит Маркет  (арт. 5982242)">
            <a:extLst>
              <a:ext uri="{FF2B5EF4-FFF2-40B4-BE49-F238E27FC236}">
                <a16:creationId xmlns:a16="http://schemas.microsoft.com/office/drawing/2014/main" id="{C5C73A62-5CBC-458F-9996-84168B3415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" name="AutoShape 20" descr="Сетевой шнур провод 2 pin, C1, витой кабель для электробритв Агидель,  Бердск, питание 220В купить по цене 300 ₽ в интернет-магазине Магнит Маркет  (арт. 5982242)">
            <a:extLst>
              <a:ext uri="{FF2B5EF4-FFF2-40B4-BE49-F238E27FC236}">
                <a16:creationId xmlns:a16="http://schemas.microsoft.com/office/drawing/2014/main" id="{6906BC4E-E209-48D2-9F05-79DF732533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46" name="Picture 22" descr="Витой шнур питания для бритв Braun">
            <a:extLst>
              <a:ext uri="{FF2B5EF4-FFF2-40B4-BE49-F238E27FC236}">
                <a16:creationId xmlns:a16="http://schemas.microsoft.com/office/drawing/2014/main" id="{94115D07-EE7B-4844-A7B3-51A4F16D6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594" y="1301750"/>
            <a:ext cx="2279650" cy="227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Подставка для монитора Trust Monta, Black (25271_TRUST) – купить в Киеве |  цена и отзывы в MOYO">
            <a:extLst>
              <a:ext uri="{FF2B5EF4-FFF2-40B4-BE49-F238E27FC236}">
                <a16:creationId xmlns:a16="http://schemas.microsoft.com/office/drawing/2014/main" id="{C846095E-6D5B-4DAA-B955-3D0E617CC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683" y="2953288"/>
            <a:ext cx="1644708" cy="164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7719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Что такое </a:t>
            </a:r>
            <a:r>
              <a:rPr lang="en-US" sz="1000" dirty="0"/>
              <a:t>Docker - </a:t>
            </a:r>
            <a:r>
              <a:rPr lang="ru-RU" sz="1000" dirty="0"/>
              <a:t>аналогия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Что такое </a:t>
            </a:r>
            <a:r>
              <a:rPr lang="en-US" sz="2200" dirty="0"/>
              <a:t>Docker - </a:t>
            </a:r>
            <a:r>
              <a:rPr lang="ru-RU" sz="2200" dirty="0"/>
              <a:t>аналогия</a:t>
            </a:r>
          </a:p>
        </p:txBody>
      </p:sp>
      <p:sp>
        <p:nvSpPr>
          <p:cNvPr id="17" name="AutoShape 10" descr="Acer Nitro EI342CKRPbmiippx — как правильно подключить монитор к  компьютеру: пошаговая инструкция [20/32]">
            <a:extLst>
              <a:ext uri="{FF2B5EF4-FFF2-40B4-BE49-F238E27FC236}">
                <a16:creationId xmlns:a16="http://schemas.microsoft.com/office/drawing/2014/main" id="{2F0D3AAC-3CCE-4F54-BAB8-5CC124B328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99591" y="3242846"/>
            <a:ext cx="1041400" cy="104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" name="AutoShape 18" descr="Сетевой шнур провод 2 pin, C1, витой кабель для электробритв Агидель,  Бердск, питание 220В купить по цене 300 ₽ в интернет-магазине Магнит Маркет  (арт. 5982242)">
            <a:extLst>
              <a:ext uri="{FF2B5EF4-FFF2-40B4-BE49-F238E27FC236}">
                <a16:creationId xmlns:a16="http://schemas.microsoft.com/office/drawing/2014/main" id="{C5C73A62-5CBC-458F-9996-84168B3415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51991" y="339524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971F57F-CAAD-495D-8192-33C8E2EFE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698" y="2147650"/>
            <a:ext cx="3240868" cy="292538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31CFEB9-DE28-48CC-804F-75646664E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124" y="5306960"/>
            <a:ext cx="3458058" cy="838317"/>
          </a:xfrm>
          <a:prstGeom prst="rect">
            <a:avLst/>
          </a:prstGeom>
        </p:spPr>
      </p:pic>
      <p:pic>
        <p:nvPicPr>
          <p:cNvPr id="205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2D09B9C3-C7AD-4A95-8C49-0D61001C2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754" y="2342683"/>
            <a:ext cx="4559113" cy="304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Docker - Visual Studio Marketplace">
            <a:extLst>
              <a:ext uri="{FF2B5EF4-FFF2-40B4-BE49-F238E27FC236}">
                <a16:creationId xmlns:a16="http://schemas.microsoft.com/office/drawing/2014/main" id="{884304F7-7FEB-436F-8655-435CE289D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302" y="4126203"/>
            <a:ext cx="888016" cy="75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Java 17 new features. Java 17, also known as Java SE 17, is… | by Hiten  Pratap Singh | hprog99 | Medium">
            <a:extLst>
              <a:ext uri="{FF2B5EF4-FFF2-40B4-BE49-F238E27FC236}">
                <a16:creationId xmlns:a16="http://schemas.microsoft.com/office/drawing/2014/main" id="{ACABCAF9-FB8F-4236-BC0B-15B398ED3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1507" y="2950096"/>
            <a:ext cx="782589" cy="43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056DAC6-F9AF-4F5B-A0B3-7B2059A2D0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7222" y="2767597"/>
            <a:ext cx="667491" cy="639259"/>
          </a:xfrm>
          <a:prstGeom prst="rect">
            <a:avLst/>
          </a:prstGeom>
        </p:spPr>
      </p:pic>
      <p:sp>
        <p:nvSpPr>
          <p:cNvPr id="38" name="Текст 3">
            <a:extLst>
              <a:ext uri="{FF2B5EF4-FFF2-40B4-BE49-F238E27FC236}">
                <a16:creationId xmlns:a16="http://schemas.microsoft.com/office/drawing/2014/main" id="{24AF152D-D7AA-4065-A718-097EF9AB6E47}"/>
              </a:ext>
            </a:extLst>
          </p:cNvPr>
          <p:cNvSpPr txBox="1">
            <a:spLocks/>
          </p:cNvSpPr>
          <p:nvPr/>
        </p:nvSpPr>
        <p:spPr>
          <a:xfrm>
            <a:off x="7041291" y="5486237"/>
            <a:ext cx="3844348" cy="399013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Комплектация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Ubuntu 22.04, Java 17, Backend App</a:t>
            </a:r>
          </a:p>
        </p:txBody>
      </p:sp>
      <p:pic>
        <p:nvPicPr>
          <p:cNvPr id="2066" name="Picture 18" descr="Ubuntu 22.04.1 LTS Jammy Jellyfish (August, 2022) Desktop 64-bit Official  ISO : Ubuntu : Free Download, Borrow, and Streaming : Internet Archive">
            <a:extLst>
              <a:ext uri="{FF2B5EF4-FFF2-40B4-BE49-F238E27FC236}">
                <a16:creationId xmlns:a16="http://schemas.microsoft.com/office/drawing/2014/main" id="{B6AE368E-AC50-4816-A721-1D95C6D2F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4050" y="2960239"/>
            <a:ext cx="614331" cy="435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323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 err="1"/>
              <a:t>Докерфайл</a:t>
            </a:r>
            <a:r>
              <a:rPr lang="ru-RU" sz="1000" dirty="0"/>
              <a:t>, образ и контейнер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 err="1"/>
              <a:t>Докерфайл</a:t>
            </a:r>
            <a:r>
              <a:rPr lang="ru-RU" sz="2200" dirty="0"/>
              <a:t>, образ и контейнер</a:t>
            </a:r>
          </a:p>
        </p:txBody>
      </p:sp>
      <p:sp>
        <p:nvSpPr>
          <p:cNvPr id="17" name="AutoShape 10" descr="Acer Nitro EI342CKRPbmiippx — как правильно подключить монитор к  компьютеру: пошаговая инструкция [20/32]">
            <a:extLst>
              <a:ext uri="{FF2B5EF4-FFF2-40B4-BE49-F238E27FC236}">
                <a16:creationId xmlns:a16="http://schemas.microsoft.com/office/drawing/2014/main" id="{2F0D3AAC-3CCE-4F54-BAB8-5CC124B328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99591" y="3242846"/>
            <a:ext cx="1041400" cy="104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" name="AutoShape 18" descr="Сетевой шнур провод 2 pin, C1, витой кабель для электробритв Агидель,  Бердск, питание 220В купить по цене 300 ₽ в интернет-магазине Магнит Маркет  (арт. 5982242)">
            <a:extLst>
              <a:ext uri="{FF2B5EF4-FFF2-40B4-BE49-F238E27FC236}">
                <a16:creationId xmlns:a16="http://schemas.microsoft.com/office/drawing/2014/main" id="{C5C73A62-5CBC-458F-9996-84168B3415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51991" y="339524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74" name="Picture 2" descr="Чертеж Двигателя V8 CommonRail - Чертежи, 3D Модели, Проекты, ДВС">
            <a:extLst>
              <a:ext uri="{FF2B5EF4-FFF2-40B4-BE49-F238E27FC236}">
                <a16:creationId xmlns:a16="http://schemas.microsoft.com/office/drawing/2014/main" id="{46390B12-68CB-439E-B094-F7FA773A7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897" y="2299252"/>
            <a:ext cx="3104809" cy="2191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Текст 3">
            <a:extLst>
              <a:ext uri="{FF2B5EF4-FFF2-40B4-BE49-F238E27FC236}">
                <a16:creationId xmlns:a16="http://schemas.microsoft.com/office/drawing/2014/main" id="{17C49829-5DCA-4203-993F-93E7DAE4F478}"/>
              </a:ext>
            </a:extLst>
          </p:cNvPr>
          <p:cNvSpPr txBox="1">
            <a:spLocks/>
          </p:cNvSpPr>
          <p:nvPr/>
        </p:nvSpPr>
        <p:spPr>
          <a:xfrm>
            <a:off x="585897" y="4699593"/>
            <a:ext cx="3844348" cy="399013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 err="1">
                <a:latin typeface="Times New Roman" pitchFamily="18" charset="0"/>
                <a:cs typeface="Times New Roman" pitchFamily="18" charset="0"/>
              </a:rPr>
              <a:t>Докерфайл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Инструкция по сборке образа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Аналогия – чертеж двигателя</a:t>
            </a:r>
          </a:p>
        </p:txBody>
      </p:sp>
      <p:pic>
        <p:nvPicPr>
          <p:cNvPr id="3076" name="Picture 4" descr="Двигатель внутреннего сгорания — Википедия">
            <a:extLst>
              <a:ext uri="{FF2B5EF4-FFF2-40B4-BE49-F238E27FC236}">
                <a16:creationId xmlns:a16="http://schemas.microsoft.com/office/drawing/2014/main" id="{519494E0-1ACD-4AE4-A48A-3609763E1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616" y="2430462"/>
            <a:ext cx="2662767" cy="199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Текст 3">
            <a:extLst>
              <a:ext uri="{FF2B5EF4-FFF2-40B4-BE49-F238E27FC236}">
                <a16:creationId xmlns:a16="http://schemas.microsoft.com/office/drawing/2014/main" id="{90CB05A9-00CD-48A3-89F0-C8D9E89025E7}"/>
              </a:ext>
            </a:extLst>
          </p:cNvPr>
          <p:cNvSpPr txBox="1">
            <a:spLocks/>
          </p:cNvSpPr>
          <p:nvPr/>
        </p:nvSpPr>
        <p:spPr>
          <a:xfrm>
            <a:off x="4687220" y="4668335"/>
            <a:ext cx="3074538" cy="399013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Докер-образ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Образ (архив) со всем необходимым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Аналогия – первый собранный двигатель на столе механика</a:t>
            </a:r>
          </a:p>
        </p:txBody>
      </p:sp>
      <p:pic>
        <p:nvPicPr>
          <p:cNvPr id="3078" name="Picture 6" descr="Какие моторы используются в современные автомобили: виды двигателей  внутреннего сгорания, каким бывают, в чем разница и как выбрать подходящий  тип">
            <a:extLst>
              <a:ext uri="{FF2B5EF4-FFF2-40B4-BE49-F238E27FC236}">
                <a16:creationId xmlns:a16="http://schemas.microsoft.com/office/drawing/2014/main" id="{71D718E2-EEE2-4C79-8A69-2D230D053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293" y="2494165"/>
            <a:ext cx="3356362" cy="1887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Текст 3">
            <a:extLst>
              <a:ext uri="{FF2B5EF4-FFF2-40B4-BE49-F238E27FC236}">
                <a16:creationId xmlns:a16="http://schemas.microsoft.com/office/drawing/2014/main" id="{536EDF8E-A64F-4032-9366-62BA594434CF}"/>
              </a:ext>
            </a:extLst>
          </p:cNvPr>
          <p:cNvSpPr txBox="1">
            <a:spLocks/>
          </p:cNvSpPr>
          <p:nvPr/>
        </p:nvSpPr>
        <p:spPr>
          <a:xfrm>
            <a:off x="8569314" y="4699593"/>
            <a:ext cx="3074538" cy="399013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Докер-контейнер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Запущенный и работающий экземпляр образа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Аналогия – работающий двигатель внутри машины у водителя</a:t>
            </a:r>
          </a:p>
        </p:txBody>
      </p:sp>
    </p:spTree>
    <p:extLst>
      <p:ext uri="{BB962C8B-B14F-4D97-AF65-F5344CB8AC3E}">
        <p14:creationId xmlns:p14="http://schemas.microsoft.com/office/powerpoint/2010/main" val="3418625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Реестр образов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Реестр образов</a:t>
            </a:r>
            <a:endParaRPr lang="ru-RU" sz="1500" dirty="0"/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5E956C6C-0592-4433-8D0D-DE2C93DFD3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9717" y="281185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Служит хранилищем образом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Образы тегируются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Можно выкачать и запустить образ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Можно поднять свой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5ADC285-4BF5-4C41-A2AE-00B02A28E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179" y="1827608"/>
            <a:ext cx="6752846" cy="4046141"/>
          </a:xfrm>
          <a:prstGeom prst="rect">
            <a:avLst/>
          </a:prstGeom>
        </p:spPr>
      </p:pic>
      <p:sp>
        <p:nvSpPr>
          <p:cNvPr id="19" name="Текст 3">
            <a:extLst>
              <a:ext uri="{FF2B5EF4-FFF2-40B4-BE49-F238E27FC236}">
                <a16:creationId xmlns:a16="http://schemas.microsoft.com/office/drawing/2014/main" id="{A18D47E6-74D6-4B39-981E-5967A2BF50A8}"/>
              </a:ext>
            </a:extLst>
          </p:cNvPr>
          <p:cNvSpPr txBox="1">
            <a:spLocks/>
          </p:cNvSpPr>
          <p:nvPr/>
        </p:nvSpPr>
        <p:spPr>
          <a:xfrm>
            <a:off x="4826251" y="6469010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https://hub.docker.com/_/hello-world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406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Базовые команды (</a:t>
            </a:r>
            <a:r>
              <a:rPr lang="en-US" dirty="0"/>
              <a:t>“</a:t>
            </a:r>
            <a:r>
              <a:rPr lang="ru-RU" dirty="0"/>
              <a:t>мгновенный</a:t>
            </a:r>
            <a:r>
              <a:rPr lang="en-US" dirty="0"/>
              <a:t>” </a:t>
            </a:r>
            <a:r>
              <a:rPr lang="ru-RU" dirty="0"/>
              <a:t>контейнер)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Базовые команды (</a:t>
            </a:r>
            <a:r>
              <a:rPr lang="en-US" dirty="0"/>
              <a:t>“</a:t>
            </a:r>
            <a:r>
              <a:rPr lang="ru-RU" dirty="0"/>
              <a:t>мгновенный</a:t>
            </a:r>
            <a:r>
              <a:rPr lang="en-US" dirty="0"/>
              <a:t>” </a:t>
            </a:r>
            <a:r>
              <a:rPr lang="ru-RU" dirty="0"/>
              <a:t>контейнер)</a:t>
            </a:r>
            <a:endParaRPr lang="ru-RU" sz="1500" dirty="0"/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5E956C6C-0592-4433-8D0D-DE2C93DFD3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7317" y="2059421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Выводит список образов 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Выкачивает образ из реестра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Запускает контейнер из образа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Запускает контейнер с именем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Показывает все работающие контейнеры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Показывает все контейнеры (включая завершенные)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Показывает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логи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контейнера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Удаляет контейнер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Удаляет образ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A18D47E6-74D6-4B39-981E-5967A2BF50A8}"/>
              </a:ext>
            </a:extLst>
          </p:cNvPr>
          <p:cNvSpPr txBox="1">
            <a:spLocks/>
          </p:cNvSpPr>
          <p:nvPr/>
        </p:nvSpPr>
        <p:spPr>
          <a:xfrm>
            <a:off x="6360544" y="6120580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https://hub.docker.com/_/hello-world</a:t>
            </a:r>
          </a:p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https://docs.docker.com/reference/cli/docker/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BD17F459-A48C-4B0E-9138-2B7B33D64504}"/>
              </a:ext>
            </a:extLst>
          </p:cNvPr>
          <p:cNvSpPr txBox="1">
            <a:spLocks/>
          </p:cNvSpPr>
          <p:nvPr/>
        </p:nvSpPr>
        <p:spPr>
          <a:xfrm>
            <a:off x="6360544" y="2049298"/>
            <a:ext cx="4929756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images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pull hello-world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run hello-world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run --name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hello1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hello-world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ps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ps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-a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logs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hello1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rm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hello1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rmi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hello-world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16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Базовые команды (</a:t>
            </a:r>
            <a:r>
              <a:rPr lang="en-US" dirty="0"/>
              <a:t>“</a:t>
            </a:r>
            <a:r>
              <a:rPr lang="ru-RU" dirty="0"/>
              <a:t>долгоживущий</a:t>
            </a:r>
            <a:r>
              <a:rPr lang="en-US" dirty="0"/>
              <a:t>”</a:t>
            </a:r>
            <a:r>
              <a:rPr lang="ru-RU" dirty="0"/>
              <a:t> контейнер)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Базовые команды (</a:t>
            </a:r>
            <a:r>
              <a:rPr lang="en-US" dirty="0"/>
              <a:t>“</a:t>
            </a:r>
            <a:r>
              <a:rPr lang="ru-RU" dirty="0"/>
              <a:t>долгоживущий</a:t>
            </a:r>
            <a:r>
              <a:rPr lang="en-US" dirty="0"/>
              <a:t>”</a:t>
            </a:r>
            <a:r>
              <a:rPr lang="ru-RU" dirty="0"/>
              <a:t> контейнер)</a:t>
            </a:r>
            <a:endParaRPr lang="ru-RU" sz="1500" dirty="0"/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5E956C6C-0592-4433-8D0D-DE2C93DFD3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7317" y="2059421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Запускаем другой контейнер (долгоживущий)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Запускаем образ как демон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Выключает контейнер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Включает контейнер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Подключение к потоку логов контейнера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Исполнение команды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внутри контейнера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Подключение к терминалу контейнера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BD17F459-A48C-4B0E-9138-2B7B33D64504}"/>
              </a:ext>
            </a:extLst>
          </p:cNvPr>
          <p:cNvSpPr txBox="1">
            <a:spLocks/>
          </p:cNvSpPr>
          <p:nvPr/>
        </p:nvSpPr>
        <p:spPr>
          <a:xfrm>
            <a:off x="6360544" y="2069046"/>
            <a:ext cx="5831456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run --name test-logger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chentex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/random-logger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run –d --name test-logger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chentex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/random-logger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stop test-logger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start test-logger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logs –f test-logger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exec –it test-logger &lt;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CMD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exec –it test-logger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sh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8362F76-CBFC-4695-A767-3BEDCC977AE9}"/>
              </a:ext>
            </a:extLst>
          </p:cNvPr>
          <p:cNvSpPr txBox="1">
            <a:spLocks/>
          </p:cNvSpPr>
          <p:nvPr/>
        </p:nvSpPr>
        <p:spPr>
          <a:xfrm>
            <a:off x="6360544" y="6120580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https://hub.docker.com/r/chentex/random-logger</a:t>
            </a:r>
          </a:p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https://docs.docker.com/reference/cli/docker/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91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Изоляция и доступ извне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Изоляция и доступ извне</a:t>
            </a:r>
            <a:endParaRPr lang="ru-RU" sz="1500" dirty="0"/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5E956C6C-0592-4433-8D0D-DE2C93DFD3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7317" y="2364370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Контейнер полностью изолирован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Собственный сетевой стек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Эфемерное хранилище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Аргументы командной строки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Проброс портов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Монтирование файлов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Золотое правило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на компьютере 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   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в контейнере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8362F76-CBFC-4695-A767-3BEDCC977AE9}"/>
              </a:ext>
            </a:extLst>
          </p:cNvPr>
          <p:cNvSpPr txBox="1">
            <a:spLocks/>
          </p:cNvSpPr>
          <p:nvPr/>
        </p:nvSpPr>
        <p:spPr>
          <a:xfrm>
            <a:off x="6360544" y="6120580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https://hub.docker.com/r/hashicorp/http-echo</a:t>
            </a:r>
          </a:p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https://hub.docker.com/_/nginx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B45C8FD5-162C-4B23-9A00-BA7F2393DE93}"/>
              </a:ext>
            </a:extLst>
          </p:cNvPr>
          <p:cNvSpPr txBox="1">
            <a:spLocks/>
          </p:cNvSpPr>
          <p:nvPr/>
        </p:nvSpPr>
        <p:spPr>
          <a:xfrm>
            <a:off x="5480050" y="2264183"/>
            <a:ext cx="645554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run -d -p 5173:5678 --name test-web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hashicorp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/http-echo -text=“Simple webpage“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run -d -p 8080:80 --name test-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nginx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-v ./page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:/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/share/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nginx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/html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nginx:alpine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41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Собираем первый контейнер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Собираем первый контейнер</a:t>
            </a:r>
            <a:endParaRPr lang="ru-RU" sz="1500" dirty="0"/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5E956C6C-0592-4433-8D0D-DE2C93DFD3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7317" y="2364370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Базовый образ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Рабочая директория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Содержимое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Порт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Запуск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8362F76-CBFC-4695-A767-3BEDCC977AE9}"/>
              </a:ext>
            </a:extLst>
          </p:cNvPr>
          <p:cNvSpPr txBox="1">
            <a:spLocks/>
          </p:cNvSpPr>
          <p:nvPr/>
        </p:nvSpPr>
        <p:spPr>
          <a:xfrm>
            <a:off x="6360544" y="6120580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https://docs.python.org/3/library/http.server.html</a:t>
            </a:r>
          </a:p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https://docs.docker.com/reference/dockerfile/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B45C8FD5-162C-4B23-9A00-BA7F2393DE93}"/>
              </a:ext>
            </a:extLst>
          </p:cNvPr>
          <p:cNvSpPr txBox="1">
            <a:spLocks/>
          </p:cNvSpPr>
          <p:nvPr/>
        </p:nvSpPr>
        <p:spPr>
          <a:xfrm>
            <a:off x="5366752" y="4376161"/>
            <a:ext cx="645554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build -t test-python-web 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run -d -p 8080:8000 --name test-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pyweb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test-python-web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run -d -p 8080:8000 --name test-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pyweb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-v ./page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:/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app test-python-web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9FF9BC-EA04-4E8F-8201-A732E4122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752" y="2034678"/>
            <a:ext cx="3781316" cy="203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663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Изоляция и доступ извне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Реестр образов – в контейнере</a:t>
            </a:r>
            <a:endParaRPr lang="ru-RU" sz="1500" dirty="0"/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5E956C6C-0592-4433-8D0D-DE2C93DFD3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7317" y="2256928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Поднимаем реестр контейнеров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Даем тег-ярлык образу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Отправляем в хранилище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Удаляем с компьютера образ 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Вынимаем из хранилища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Переименовываем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Запускаем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Все можно поместить в контейнер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8362F76-CBFC-4695-A767-3BEDCC977AE9}"/>
              </a:ext>
            </a:extLst>
          </p:cNvPr>
          <p:cNvSpPr txBox="1">
            <a:spLocks/>
          </p:cNvSpPr>
          <p:nvPr/>
        </p:nvSpPr>
        <p:spPr>
          <a:xfrm>
            <a:off x="6360544" y="6120580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https://hub.docker.com/r/hashicorp/http-echo</a:t>
            </a:r>
          </a:p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https://hub.docker.com/_/nginx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B45C8FD5-162C-4B23-9A00-BA7F2393DE93}"/>
              </a:ext>
            </a:extLst>
          </p:cNvPr>
          <p:cNvSpPr txBox="1">
            <a:spLocks/>
          </p:cNvSpPr>
          <p:nvPr/>
        </p:nvSpPr>
        <p:spPr>
          <a:xfrm>
            <a:off x="4953000" y="2264183"/>
            <a:ext cx="698259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run -d -p 5001:5000 --restart=always --name local-registry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registry:2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tag test-python-web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localhost:5001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python-web:v1.0.0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push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localhost:5001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python-web:v1.0.0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rmi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localhost:5001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python-web:v1.0.0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pull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localhost:5001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python-web:v1.0.0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tag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localhost:5001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python-web:v1.0.0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pyw:latest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run -d -p 8080:8000 --name test-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pyw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pyw:latest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674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Собираем контейнер с зависимостями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Собираем контейнер с зависимостями</a:t>
            </a:r>
            <a:endParaRPr lang="ru-RU" sz="1500" dirty="0"/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5E956C6C-0592-4433-8D0D-DE2C93DFD3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7317" y="2264183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Инструкция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Поставить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python 3.12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pip install -r requirements.txt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uvicorn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main:app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--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host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0.0.0.0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--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port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8000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Задача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Написать инструкцию для докер-образа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Порядок строк важен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сначала то, что реже обновляется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8362F76-CBFC-4695-A767-3BEDCC977AE9}"/>
              </a:ext>
            </a:extLst>
          </p:cNvPr>
          <p:cNvSpPr txBox="1">
            <a:spLocks/>
          </p:cNvSpPr>
          <p:nvPr/>
        </p:nvSpPr>
        <p:spPr>
          <a:xfrm>
            <a:off x="6360544" y="6120580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https://docs.docker.com/reference/dockerfile/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DC810A-A8E4-4D52-8401-C76D9B344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277" y="2264183"/>
            <a:ext cx="5611008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725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Собираем контейнер с </a:t>
            </a:r>
            <a:r>
              <a:rPr lang="en-US" dirty="0"/>
              <a:t>C#</a:t>
            </a:r>
            <a:r>
              <a:rPr lang="ru-RU" dirty="0"/>
              <a:t> – наивный вариант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Собираем контейнер с </a:t>
            </a:r>
            <a:r>
              <a:rPr lang="en-US" dirty="0"/>
              <a:t>C#</a:t>
            </a:r>
            <a:r>
              <a:rPr lang="ru-RU" dirty="0"/>
              <a:t> – наивный вариант</a:t>
            </a:r>
            <a:endParaRPr lang="ru-RU" sz="1500" dirty="0"/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5E956C6C-0592-4433-8D0D-DE2C93DFD3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7317" y="2264183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Инструкция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Установить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dotnet-SDK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Собрать через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dotnet publish -c Release -o /app/out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Запустить с помощью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dotnet /app/out/demo-csharp.dll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Задача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Написать инструкцию для докер-образа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Проверить его размер…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build -f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Dockerfile.naive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-t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csharp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-naive 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images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csharp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-naive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history --no-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trunc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csharp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-naive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8362F76-CBFC-4695-A767-3BEDCC977AE9}"/>
              </a:ext>
            </a:extLst>
          </p:cNvPr>
          <p:cNvSpPr txBox="1">
            <a:spLocks/>
          </p:cNvSpPr>
          <p:nvPr/>
        </p:nvSpPr>
        <p:spPr>
          <a:xfrm>
            <a:off x="6423661" y="6370850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https://docs.docker.com/reference/dockerfile/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6E0DC56-BA28-409A-87CB-2994D9A4A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61" y="2264183"/>
            <a:ext cx="5098622" cy="321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651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Собираем контейнер с </a:t>
            </a:r>
            <a:r>
              <a:rPr lang="en-US" dirty="0"/>
              <a:t>C#</a:t>
            </a:r>
            <a:r>
              <a:rPr lang="ru-RU" dirty="0"/>
              <a:t> – двухступенчатая сборка</a:t>
            </a:r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Собираем контейнер с </a:t>
            </a:r>
            <a:r>
              <a:rPr lang="en-US" dirty="0"/>
              <a:t>C#</a:t>
            </a:r>
            <a:r>
              <a:rPr lang="ru-RU" dirty="0"/>
              <a:t> – двухступенчатая сборка</a:t>
            </a:r>
            <a:endParaRPr lang="ru-RU" sz="1500" dirty="0"/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5E956C6C-0592-4433-8D0D-DE2C93DFD3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7317" y="2031355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Шаг первый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Установить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dotnet-SDK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Собрать через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dotnet publish -c Release -o /app/out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Шаг второй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Установить легкий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рантайм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aspnet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Скопировать результат из первого шага 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Запустить с помощью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dotnet /app/out/demo-csharp.dll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build -f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Dockerfile.multistage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-t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csharp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-multi .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images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csharp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-multi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history --no-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trunc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csharp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-multi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Результат – вес образа уменьшился в разы!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(&gt;6 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раз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1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8362F76-CBFC-4695-A767-3BEDCC977AE9}"/>
              </a:ext>
            </a:extLst>
          </p:cNvPr>
          <p:cNvSpPr txBox="1">
            <a:spLocks/>
          </p:cNvSpPr>
          <p:nvPr/>
        </p:nvSpPr>
        <p:spPr>
          <a:xfrm>
            <a:off x="6328538" y="6576958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https://docs.docker.com/reference/dockerfile/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9A30D4-D702-49A6-85A0-37DAF3347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538" y="1913726"/>
            <a:ext cx="5695801" cy="445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54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Собираем контейнер с </a:t>
            </a:r>
            <a:r>
              <a:rPr lang="en-US" dirty="0"/>
              <a:t>Go</a:t>
            </a:r>
            <a:r>
              <a:rPr lang="ru-RU" dirty="0"/>
              <a:t> – </a:t>
            </a:r>
            <a:r>
              <a:rPr lang="en-US" dirty="0"/>
              <a:t>from scratch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Собираем контейнер с </a:t>
            </a:r>
            <a:r>
              <a:rPr lang="en-US" dirty="0"/>
              <a:t>Go</a:t>
            </a:r>
            <a:r>
              <a:rPr lang="ru-RU" dirty="0"/>
              <a:t> – </a:t>
            </a:r>
            <a:r>
              <a:rPr lang="en-US" dirty="0"/>
              <a:t>from scratch</a:t>
            </a:r>
            <a:endParaRPr lang="ru-RU" sz="1500" dirty="0"/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8362F76-CBFC-4695-A767-3BEDCC977AE9}"/>
              </a:ext>
            </a:extLst>
          </p:cNvPr>
          <p:cNvSpPr txBox="1">
            <a:spLocks/>
          </p:cNvSpPr>
          <p:nvPr/>
        </p:nvSpPr>
        <p:spPr>
          <a:xfrm>
            <a:off x="6360544" y="6120580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https://docs.docker.com/reference/dockerfile/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10267F-0302-40AA-8B61-FDE080B23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214" y="1568461"/>
            <a:ext cx="5815786" cy="4083764"/>
          </a:xfrm>
          <a:prstGeom prst="rect">
            <a:avLst/>
          </a:prstGeom>
        </p:spPr>
      </p:pic>
      <p:sp>
        <p:nvSpPr>
          <p:cNvPr id="14" name="Текст 3">
            <a:extLst>
              <a:ext uri="{FF2B5EF4-FFF2-40B4-BE49-F238E27FC236}">
                <a16:creationId xmlns:a16="http://schemas.microsoft.com/office/drawing/2014/main" id="{49D2E741-7A0F-4260-8F9E-14418988C9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3984" y="2153914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Базовый образ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Kernel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Userspace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Scratch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Glibc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musl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build -f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Dockerfile.multistage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-t go-multi 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images go-multi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Сборка без ОС – минимальный размер образа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!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MB)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507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Собираем контейнер с </a:t>
            </a:r>
            <a:r>
              <a:rPr lang="en-US" dirty="0"/>
              <a:t>Rust – </a:t>
            </a:r>
            <a:r>
              <a:rPr lang="ru-RU" dirty="0"/>
              <a:t>дорога к быстрой сборке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Собираем контейнер с </a:t>
            </a:r>
            <a:r>
              <a:rPr lang="en-US" dirty="0"/>
              <a:t>Rust – </a:t>
            </a:r>
            <a:r>
              <a:rPr lang="ru-RU" dirty="0"/>
              <a:t>дорога к быстрой сборке</a:t>
            </a:r>
            <a:endParaRPr lang="ru-RU" sz="1500" dirty="0"/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8362F76-CBFC-4695-A767-3BEDCC977AE9}"/>
              </a:ext>
            </a:extLst>
          </p:cNvPr>
          <p:cNvSpPr txBox="1">
            <a:spLocks/>
          </p:cNvSpPr>
          <p:nvPr/>
        </p:nvSpPr>
        <p:spPr>
          <a:xfrm>
            <a:off x="6360544" y="6120580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https://docs.docker.com/reference/dockerfile/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48BF2AB-1863-40A2-A432-45E402F0F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00" y="2264183"/>
            <a:ext cx="5039428" cy="1552792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EBA463F-35DF-4E72-BCC3-0CCD9FD5D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00" y="4228264"/>
            <a:ext cx="7468642" cy="1667108"/>
          </a:xfrm>
          <a:prstGeom prst="rect">
            <a:avLst/>
          </a:prstGeom>
        </p:spPr>
      </p:pic>
      <p:sp>
        <p:nvSpPr>
          <p:cNvPr id="22" name="Текст 3">
            <a:extLst>
              <a:ext uri="{FF2B5EF4-FFF2-40B4-BE49-F238E27FC236}">
                <a16:creationId xmlns:a16="http://schemas.microsoft.com/office/drawing/2014/main" id="{B7AC9D95-43A5-451A-8A0A-ED9EB6C4A8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8148" y="1913726"/>
            <a:ext cx="3920982" cy="293787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Шаг первый – сборка чистого рецепта</a:t>
            </a:r>
          </a:p>
        </p:txBody>
      </p:sp>
      <p:sp>
        <p:nvSpPr>
          <p:cNvPr id="23" name="Текст 3">
            <a:extLst>
              <a:ext uri="{FF2B5EF4-FFF2-40B4-BE49-F238E27FC236}">
                <a16:creationId xmlns:a16="http://schemas.microsoft.com/office/drawing/2014/main" id="{89834A20-F8ED-4275-9154-2B9C0DB4A622}"/>
              </a:ext>
            </a:extLst>
          </p:cNvPr>
          <p:cNvSpPr txBox="1">
            <a:spLocks/>
          </p:cNvSpPr>
          <p:nvPr/>
        </p:nvSpPr>
        <p:spPr>
          <a:xfrm>
            <a:off x="548148" y="3816975"/>
            <a:ext cx="3757503" cy="293787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Шаг второй – сборка библиотек</a:t>
            </a:r>
          </a:p>
        </p:txBody>
      </p:sp>
    </p:spTree>
    <p:extLst>
      <p:ext uri="{BB962C8B-B14F-4D97-AF65-F5344CB8AC3E}">
        <p14:creationId xmlns:p14="http://schemas.microsoft.com/office/powerpoint/2010/main" val="3243960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Собираем контейнер с </a:t>
            </a:r>
            <a:r>
              <a:rPr lang="en-US" dirty="0"/>
              <a:t>Rust – </a:t>
            </a:r>
            <a:r>
              <a:rPr lang="ru-RU" dirty="0"/>
              <a:t>дорога к быстрой сборке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Собираем контейнер с </a:t>
            </a:r>
            <a:r>
              <a:rPr lang="en-US" dirty="0"/>
              <a:t>Rust – </a:t>
            </a:r>
            <a:r>
              <a:rPr lang="ru-RU" dirty="0"/>
              <a:t>дорога к быстрой сборке</a:t>
            </a:r>
            <a:endParaRPr lang="ru-RU" sz="1500" dirty="0"/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8362F76-CBFC-4695-A767-3BEDCC977AE9}"/>
              </a:ext>
            </a:extLst>
          </p:cNvPr>
          <p:cNvSpPr txBox="1">
            <a:spLocks/>
          </p:cNvSpPr>
          <p:nvPr/>
        </p:nvSpPr>
        <p:spPr>
          <a:xfrm>
            <a:off x="6360544" y="6120580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https://docs.docker.com/reference/dockerfile/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D1DA54-7054-447D-90C8-2EA48AA05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97" y="2516153"/>
            <a:ext cx="6687483" cy="95263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246F091-D3FC-4DC9-A0B0-E8AF50012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97" y="4148238"/>
            <a:ext cx="6897063" cy="1438476"/>
          </a:xfrm>
          <a:prstGeom prst="rect">
            <a:avLst/>
          </a:prstGeom>
        </p:spPr>
      </p:pic>
      <p:sp>
        <p:nvSpPr>
          <p:cNvPr id="14" name="Текст 3">
            <a:extLst>
              <a:ext uri="{FF2B5EF4-FFF2-40B4-BE49-F238E27FC236}">
                <a16:creationId xmlns:a16="http://schemas.microsoft.com/office/drawing/2014/main" id="{2E616DC5-AFAF-4258-BCF3-12FCF7B005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089505"/>
            <a:ext cx="3757503" cy="293787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Шаг третий – сборка кода</a:t>
            </a:r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F92C54B0-6ADF-4142-9F97-D89CAD60B793}"/>
              </a:ext>
            </a:extLst>
          </p:cNvPr>
          <p:cNvSpPr txBox="1">
            <a:spLocks/>
          </p:cNvSpPr>
          <p:nvPr/>
        </p:nvSpPr>
        <p:spPr>
          <a:xfrm>
            <a:off x="585897" y="3747009"/>
            <a:ext cx="3757503" cy="293787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Шаг четвертый – сборка без ОС</a:t>
            </a:r>
          </a:p>
        </p:txBody>
      </p:sp>
    </p:spTree>
    <p:extLst>
      <p:ext uri="{BB962C8B-B14F-4D97-AF65-F5344CB8AC3E}">
        <p14:creationId xmlns:p14="http://schemas.microsoft.com/office/powerpoint/2010/main" val="1199591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Собираем контейнер с Джавой – практика на семинаре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Собираем контейнер с Джавой – практика на семинаре</a:t>
            </a:r>
            <a:endParaRPr lang="ru-RU" sz="1500" dirty="0"/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5E956C6C-0592-4433-8D0D-DE2C93DFD3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7317" y="2264183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Инструкция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Установить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JDK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21, Gradle 8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Собрать через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gradle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build --no-daemon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Запустить с помощью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java -jar ./build/libs/app.jar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Задача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Написать инструкцию для докер-образа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8362F76-CBFC-4695-A767-3BEDCC977AE9}"/>
              </a:ext>
            </a:extLst>
          </p:cNvPr>
          <p:cNvSpPr txBox="1">
            <a:spLocks/>
          </p:cNvSpPr>
          <p:nvPr/>
        </p:nvSpPr>
        <p:spPr>
          <a:xfrm>
            <a:off x="6360544" y="6120580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https://docs.docker.com/reference/dockerfile/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2" descr="Picture background">
            <a:extLst>
              <a:ext uri="{FF2B5EF4-FFF2-40B4-BE49-F238E27FC236}">
                <a16:creationId xmlns:a16="http://schemas.microsoft.com/office/drawing/2014/main" id="{B8B5CC6D-5C8B-4D6B-AB0F-AC90697BD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970" y="2163996"/>
            <a:ext cx="3951249" cy="2963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936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Собираем контейнер с </a:t>
            </a:r>
            <a:r>
              <a:rPr lang="en-US" dirty="0"/>
              <a:t>React-</a:t>
            </a:r>
            <a:r>
              <a:rPr lang="ru-RU" dirty="0"/>
              <a:t>сайтом – домашнее задание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Собираем контейнер с </a:t>
            </a:r>
            <a:r>
              <a:rPr lang="en-US" dirty="0"/>
              <a:t>React-</a:t>
            </a:r>
            <a:r>
              <a:rPr lang="ru-RU" dirty="0"/>
              <a:t>сайтом – домашнее задание</a:t>
            </a:r>
            <a:endParaRPr lang="ru-RU" sz="1500" dirty="0"/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5E956C6C-0592-4433-8D0D-DE2C93DFD3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7317" y="2264183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Инструкция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Использовать образ с Node.js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Установить зависимости через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install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Собрать статические файлы через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run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build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Раздать сайт прямо из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Node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с помощью утилиты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serve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Задача на 8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Написать инструкцию для докер-образа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Проверить его размер…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Задача на 10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Раздать через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nginx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двухэтапная сборка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8362F76-CBFC-4695-A767-3BEDCC977AE9}"/>
              </a:ext>
            </a:extLst>
          </p:cNvPr>
          <p:cNvSpPr txBox="1">
            <a:spLocks/>
          </p:cNvSpPr>
          <p:nvPr/>
        </p:nvSpPr>
        <p:spPr>
          <a:xfrm>
            <a:off x="6360544" y="6120580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https://docs.docker.com/reference/dockerfile/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2" descr="Picture background">
            <a:extLst>
              <a:ext uri="{FF2B5EF4-FFF2-40B4-BE49-F238E27FC236}">
                <a16:creationId xmlns:a16="http://schemas.microsoft.com/office/drawing/2014/main" id="{B8B5CC6D-5C8B-4D6B-AB0F-AC90697BD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970" y="2163996"/>
            <a:ext cx="3951249" cy="2963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668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Уход за докером</a:t>
            </a:r>
            <a:br>
              <a:rPr lang="ru-RU" dirty="0"/>
            </a:br>
            <a:endParaRPr lang="ru-RU" dirty="0"/>
          </a:p>
        </p:txBody>
      </p:sp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60D91512-18C8-45E6-A0C9-0E4FAA12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564986"/>
            <a:ext cx="11057955" cy="766908"/>
          </a:xfrm>
        </p:spPr>
        <p:txBody>
          <a:bodyPr>
            <a:normAutofit/>
          </a:bodyPr>
          <a:lstStyle/>
          <a:p>
            <a:r>
              <a:rPr lang="ru-RU" dirty="0"/>
              <a:t>Уход за докером</a:t>
            </a:r>
            <a:br>
              <a:rPr lang="ru-RU" dirty="0"/>
            </a:br>
            <a:endParaRPr lang="ru-RU" sz="15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561517-F947-4D1C-97F0-1DEC885C0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97" y="2022634"/>
            <a:ext cx="8108950" cy="2001897"/>
          </a:xfrm>
          <a:prstGeom prst="rect">
            <a:avLst/>
          </a:prstGeom>
        </p:spPr>
      </p:pic>
      <p:sp>
        <p:nvSpPr>
          <p:cNvPr id="16" name="Текст 3">
            <a:extLst>
              <a:ext uri="{FF2B5EF4-FFF2-40B4-BE49-F238E27FC236}">
                <a16:creationId xmlns:a16="http://schemas.microsoft.com/office/drawing/2014/main" id="{24A76235-BEF4-4DBA-AEC6-86BE6422F3F8}"/>
              </a:ext>
            </a:extLst>
          </p:cNvPr>
          <p:cNvSpPr txBox="1">
            <a:spLocks/>
          </p:cNvSpPr>
          <p:nvPr/>
        </p:nvSpPr>
        <p:spPr>
          <a:xfrm>
            <a:off x="585897" y="4276404"/>
            <a:ext cx="1100920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find /var/lib/docker/containers/ -name "*-json.log" -exec du 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ch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{} + | sort –h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ps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-a --filter "id=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039fc1a4a53a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" --format "table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{{.ID}}\t{{.Names}}\t{{.Image}}\t{{.Status}} "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truncate -s 0 /var/lib/docker/containers/039fc1a4a53ad5191cacdd5c8b4dfa1cbab8d67a3ba92af9fb7b3e9d2d129ca0/039fc1a4a53ad5191cacdd5c8b4dfa1cbab8d67a3ba92af9fb7b3e9d2d129ca0-json.log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403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Уход за докером</a:t>
            </a:r>
            <a:br>
              <a:rPr lang="ru-RU" dirty="0"/>
            </a:br>
            <a:endParaRPr lang="ru-RU" dirty="0"/>
          </a:p>
        </p:txBody>
      </p:sp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60D91512-18C8-45E6-A0C9-0E4FAA12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564986"/>
            <a:ext cx="11057955" cy="766908"/>
          </a:xfrm>
        </p:spPr>
        <p:txBody>
          <a:bodyPr>
            <a:normAutofit/>
          </a:bodyPr>
          <a:lstStyle/>
          <a:p>
            <a:r>
              <a:rPr lang="ru-RU" dirty="0"/>
              <a:t>Уход за докером</a:t>
            </a:r>
            <a:br>
              <a:rPr lang="ru-RU" dirty="0"/>
            </a:br>
            <a:endParaRPr lang="ru-RU" sz="15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C268213-62BD-4035-9761-2FCA59FC6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97" y="2147974"/>
            <a:ext cx="4157553" cy="770783"/>
          </a:xfrm>
          <a:prstGeom prst="rect">
            <a:avLst/>
          </a:prstGeom>
        </p:spPr>
      </p:pic>
      <p:sp>
        <p:nvSpPr>
          <p:cNvPr id="16" name="Текст 3">
            <a:extLst>
              <a:ext uri="{FF2B5EF4-FFF2-40B4-BE49-F238E27FC236}">
                <a16:creationId xmlns:a16="http://schemas.microsoft.com/office/drawing/2014/main" id="{24A76235-BEF4-4DBA-AEC6-86BE6422F3F8}"/>
              </a:ext>
            </a:extLst>
          </p:cNvPr>
          <p:cNvSpPr txBox="1">
            <a:spLocks/>
          </p:cNvSpPr>
          <p:nvPr/>
        </p:nvSpPr>
        <p:spPr>
          <a:xfrm>
            <a:off x="585897" y="3076254"/>
            <a:ext cx="1100920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Windows: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wsl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--shutdown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diskpart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select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vdisk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file="C:\Users\USERNAME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\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AppData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\Local\Docker\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wsl</a:t>
            </a:r>
            <a:r>
              <a:rPr lang="en-US" sz="180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\disk\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ext4.vhdx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attach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vdisk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readonly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compact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vdisk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detach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vdisk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exit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71916F36-563E-4740-A174-AF8C6659D993}"/>
              </a:ext>
            </a:extLst>
          </p:cNvPr>
          <p:cNvSpPr txBox="1">
            <a:spLocks/>
          </p:cNvSpPr>
          <p:nvPr/>
        </p:nvSpPr>
        <p:spPr>
          <a:xfrm>
            <a:off x="5176948" y="2150828"/>
            <a:ext cx="5808732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system -df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builder prune –f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770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 азов до нюансов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453305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Докер-композиции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Докер-сеть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Домены и сертификаты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…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Жду всех на следующем занятии!!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План на следующее занятие</a:t>
            </a:r>
            <a:br>
              <a:rPr lang="ru-RU" dirty="0"/>
            </a:br>
            <a:endParaRPr lang="ru-RU" dirty="0"/>
          </a:p>
        </p:txBody>
      </p:sp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60D91512-18C8-45E6-A0C9-0E4FAA12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564986"/>
            <a:ext cx="11057955" cy="766908"/>
          </a:xfrm>
        </p:spPr>
        <p:txBody>
          <a:bodyPr>
            <a:normAutofit/>
          </a:bodyPr>
          <a:lstStyle/>
          <a:p>
            <a:r>
              <a:rPr lang="ru-RU" dirty="0"/>
              <a:t>План на следующее занятие</a:t>
            </a:r>
            <a:br>
              <a:rPr lang="ru-RU" dirty="0"/>
            </a:br>
            <a:endParaRPr lang="ru-RU" sz="1500" dirty="0"/>
          </a:p>
        </p:txBody>
      </p:sp>
      <p:pic>
        <p:nvPicPr>
          <p:cNvPr id="12" name="Picture 2" descr="Picture background">
            <a:extLst>
              <a:ext uri="{FF2B5EF4-FFF2-40B4-BE49-F238E27FC236}">
                <a16:creationId xmlns:a16="http://schemas.microsoft.com/office/drawing/2014/main" id="{3E4A53E4-75EB-4ABF-9F53-876930C9B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4942" y="1962763"/>
            <a:ext cx="3330251" cy="333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673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5E736E-544E-4D4E-B198-E78EFE261ACA}"/>
              </a:ext>
            </a:extLst>
          </p:cNvPr>
          <p:cNvSpPr txBox="1"/>
          <p:nvPr/>
        </p:nvSpPr>
        <p:spPr>
          <a:xfrm>
            <a:off x="3810918" y="3996252"/>
            <a:ext cx="4972131" cy="7415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5719" tIns="35719" rIns="35719" bIns="35719" numCol="1" spcCol="381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ru-RU" sz="3600" dirty="0">
                <a:solidFill>
                  <a:srgbClr val="0F2C68"/>
                </a:solidFill>
                <a:latin typeface="HSE Sans" panose="02000000000000000000" pitchFamily="50" charset="-52"/>
                <a:cs typeface="Arabic Typesetting" panose="020B0604020202020204" pitchFamily="66" charset="-78"/>
              </a:rPr>
              <a:t>Благодарю</a:t>
            </a:r>
            <a:r>
              <a:rPr kumimoji="0" lang="ru-RU" sz="36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 за внимание</a:t>
            </a:r>
            <a:r>
              <a:rPr kumimoji="0" lang="en-US" sz="36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!</a:t>
            </a:r>
            <a:endParaRPr kumimoji="0" lang="ru-RU" sz="3600" i="0" u="none" strike="noStrike" kern="1200" cap="none" spc="0" normalizeH="0" noProof="0" dirty="0">
              <a:ln>
                <a:noFill/>
              </a:ln>
              <a:solidFill>
                <a:srgbClr val="0F2C68"/>
              </a:solidFill>
              <a:effectLst/>
              <a:uLnTx/>
              <a:uFillTx/>
              <a:latin typeface="HSE Sans" panose="02000000000000000000" pitchFamily="50" charset="-52"/>
              <a:cs typeface="Arabic Typesetting" panose="020B0604020202020204" pitchFamily="66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2F1902-C67E-4041-92B0-58614E046C89}"/>
              </a:ext>
            </a:extLst>
          </p:cNvPr>
          <p:cNvSpPr txBox="1"/>
          <p:nvPr/>
        </p:nvSpPr>
        <p:spPr>
          <a:xfrm>
            <a:off x="600533" y="6417468"/>
            <a:ext cx="10860064" cy="2568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410766" hangingPunct="0"/>
            <a:r>
              <a:rPr lang="ru-RU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Гудзикевич М. С., БПИ-198, курсовая работа, Мобильная аркада с сенсорным управлением – </a:t>
            </a:r>
            <a:r>
              <a:rPr lang="en-US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msgudzikevich@edu.hse.ru</a:t>
            </a:r>
            <a:r>
              <a:rPr lang="ru-RU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				        23</a:t>
            </a:r>
          </a:p>
        </p:txBody>
      </p:sp>
      <p:pic>
        <p:nvPicPr>
          <p:cNvPr id="103" name="Изображение" descr="Изображение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701"/>
                    </a14:imgEffect>
                    <a14:imgEffect>
                      <a14:saturation sat="338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99166" y="2270436"/>
            <a:ext cx="1793666" cy="1734292"/>
          </a:xfrm>
          <a:prstGeom prst="rect">
            <a:avLst/>
          </a:prstGeom>
          <a:noFill/>
          <a:ln w="12700">
            <a:miter lim="400000"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E8D85F-E9B7-41FC-AFF3-6C52C594B625}"/>
              </a:ext>
            </a:extLst>
          </p:cNvPr>
          <p:cNvSpPr txBox="1"/>
          <p:nvPr/>
        </p:nvSpPr>
        <p:spPr>
          <a:xfrm>
            <a:off x="4761851" y="4622616"/>
            <a:ext cx="2668296" cy="8338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5719" tIns="35719" rIns="35719" bIns="35719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Василевский Владимир Игоревич</a:t>
            </a:r>
            <a:br>
              <a:rPr kumimoji="0" lang="ru-RU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</a:br>
            <a:r>
              <a:rPr kumimoji="0" lang="en-US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vvasilevskiy@hse.ru</a:t>
            </a:r>
            <a:br>
              <a:rPr kumimoji="0" lang="en-US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</a:br>
            <a:r>
              <a:rPr kumimoji="0" lang="ru-RU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Москва 202</a:t>
            </a:r>
            <a:r>
              <a:rPr lang="ru-RU" sz="1400" dirty="0">
                <a:solidFill>
                  <a:srgbClr val="0F2C68"/>
                </a:solidFill>
                <a:latin typeface="HSE Sans" panose="02000000000000000000" pitchFamily="50" charset="-52"/>
                <a:cs typeface="Arabic Typesetting" panose="020B0604020202020204" pitchFamily="66" charset="-78"/>
              </a:rPr>
              <a:t>6</a:t>
            </a:r>
            <a:endParaRPr kumimoji="0" lang="ru-RU" sz="1400" i="0" u="none" strike="noStrike" kern="1200" cap="none" spc="0" normalizeH="0" noProof="0" dirty="0">
              <a:ln>
                <a:noFill/>
              </a:ln>
              <a:solidFill>
                <a:srgbClr val="0F2C68"/>
              </a:solidFill>
              <a:effectLst/>
              <a:uLnTx/>
              <a:uFillTx/>
              <a:latin typeface="HSE Sans" panose="02000000000000000000" pitchFamily="50" charset="-52"/>
              <a:cs typeface="Arabic Typesetting" panose="020B0604020202020204" pitchFamily="66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b739a2f-a689-468a-89a2-73972a296307">
      <Terms xmlns="http://schemas.microsoft.com/office/infopath/2007/PartnerControls"/>
    </lcf76f155ced4ddcb4097134ff3c332f>
    <TaxCatchAll xmlns="d7a0ef7b-a4f6-4e65-b83c-7dbdba30d41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E8F20F2384D3D04CA8B8E1E250982FD1" ma:contentTypeVersion="16" ma:contentTypeDescription="Создание документа." ma:contentTypeScope="" ma:versionID="28665edab9a3ead5c83fd3ecb67189db">
  <xsd:schema xmlns:xsd="http://www.w3.org/2001/XMLSchema" xmlns:xs="http://www.w3.org/2001/XMLSchema" xmlns:p="http://schemas.microsoft.com/office/2006/metadata/properties" xmlns:ns2="bb739a2f-a689-468a-89a2-73972a296307" xmlns:ns3="d7a0ef7b-a4f6-4e65-b83c-7dbdba30d41e" targetNamespace="http://schemas.microsoft.com/office/2006/metadata/properties" ma:root="true" ma:fieldsID="3034587aebd71cb0ebe2e2dc1c6e9fa2" ns2:_="" ns3:_="">
    <xsd:import namespace="bb739a2f-a689-468a-89a2-73972a296307"/>
    <xsd:import namespace="d7a0ef7b-a4f6-4e65-b83c-7dbdba30d4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739a2f-a689-468a-89a2-73972a2963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0f49e2ad-b3c7-4051-b79b-59f1dbf380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a0ef7b-a4f6-4e65-b83c-7dbdba30d41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0d8e2f9-8114-4573-8cf5-afcf38c4c1f4}" ma:internalName="TaxCatchAll" ma:showField="CatchAllData" ma:web="d7a0ef7b-a4f6-4e65-b83c-7dbdba30d4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9875bd71-cde8-496c-a136-433f55d5e6d0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e96afe77-3acb-4328-97fc-408e1bde3ecd"/>
    <ds:schemaRef ds:uri="bb739a2f-a689-468a-89a2-73972a296307"/>
    <ds:schemaRef ds:uri="d7a0ef7b-a4f6-4e65-b83c-7dbdba30d41e"/>
  </ds:schemaRefs>
</ds:datastoreItem>
</file>

<file path=customXml/itemProps3.xml><?xml version="1.0" encoding="utf-8"?>
<ds:datastoreItem xmlns:ds="http://schemas.openxmlformats.org/officeDocument/2006/customXml" ds:itemID="{7E7EB8B4-4533-49D8-B147-0BB08BEFB7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739a2f-a689-468a-89a2-73972a296307"/>
    <ds:schemaRef ds:uri="d7a0ef7b-a4f6-4e65-b83c-7dbdba30d4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3847</TotalTime>
  <Words>1808</Words>
  <Application>Microsoft Office PowerPoint</Application>
  <PresentationFormat>Широкоэкранный</PresentationFormat>
  <Paragraphs>295</Paragraphs>
  <Slides>24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HSE Sans</vt:lpstr>
      <vt:lpstr>Arial</vt:lpstr>
      <vt:lpstr>Calibri</vt:lpstr>
      <vt:lpstr>Calibri Light</vt:lpstr>
      <vt:lpstr>Times New Roman</vt:lpstr>
      <vt:lpstr>Office Theme</vt:lpstr>
      <vt:lpstr>Docker: от азов до нюансов</vt:lpstr>
      <vt:lpstr>О семинаристе</vt:lpstr>
      <vt:lpstr>О семинарах </vt:lpstr>
      <vt:lpstr>Что такое Docker - аналогия</vt:lpstr>
      <vt:lpstr>Что такое Docker - аналогия</vt:lpstr>
      <vt:lpstr>Докерфайл, образ и контейнер</vt:lpstr>
      <vt:lpstr>Реестр образов</vt:lpstr>
      <vt:lpstr>Базовые команды (“мгновенный” контейнер)</vt:lpstr>
      <vt:lpstr>Базовые команды (“долгоживущий” контейнер)</vt:lpstr>
      <vt:lpstr>Изоляция и доступ извне</vt:lpstr>
      <vt:lpstr>Собираем первый контейнер</vt:lpstr>
      <vt:lpstr>Реестр образов – в контейнере</vt:lpstr>
      <vt:lpstr>Собираем контейнер с зависимостями</vt:lpstr>
      <vt:lpstr>Собираем контейнер с C# – наивный вариант</vt:lpstr>
      <vt:lpstr>Собираем контейнер с C# – двухступенчатая сборка</vt:lpstr>
      <vt:lpstr>Собираем контейнер с Go – from scratch</vt:lpstr>
      <vt:lpstr>Собираем контейнер с Rust – дорога к быстрой сборке</vt:lpstr>
      <vt:lpstr>Собираем контейнер с Rust – дорога к быстрой сборке</vt:lpstr>
      <vt:lpstr>Собираем контейнер с Джавой – практика на семинаре</vt:lpstr>
      <vt:lpstr>Собираем контейнер с React-сайтом – домашнее задание</vt:lpstr>
      <vt:lpstr>Уход за докером </vt:lpstr>
      <vt:lpstr>Уход за докером </vt:lpstr>
      <vt:lpstr>План на следующее занятие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Goodbird Goodbird</cp:lastModifiedBy>
  <cp:revision>925</cp:revision>
  <cp:lastPrinted>2021-11-11T13:08:42Z</cp:lastPrinted>
  <dcterms:created xsi:type="dcterms:W3CDTF">2021-11-11T08:52:47Z</dcterms:created>
  <dcterms:modified xsi:type="dcterms:W3CDTF">2026-09-10T15:13:10Z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0x010100E8F20F2384D3D04CA8B8E1E250982FD1</vt:lpwstr>
  </property>
</Properties>
</file>